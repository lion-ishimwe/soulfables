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195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 deliverable. The architecture document precedes any build, as the brief itself specifies.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reframe: this is a migration with live customers, existing content and </a:t>
            </a:r>
            <a:r>
              <a:rPr lang="en-US"/>
              <a:t>indexed </a:t>
            </a:r>
            <a:r>
              <a:rPr lang="en-US" smtClean="0"/>
              <a:t>URLs not </a:t>
            </a:r>
            <a:r>
              <a:rPr lang="en-US" dirty="0"/>
              <a:t>a greenfield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honest answer is "nothing worth carrying over", that </a:t>
            </a:r>
            <a:r>
              <a:rPr lang="en-US"/>
              <a:t>is </a:t>
            </a:r>
            <a:r>
              <a:rPr lang="en-US" smtClean="0"/>
              <a:t>fine but </a:t>
            </a:r>
            <a:r>
              <a:rPr lang="en-US" dirty="0"/>
              <a:t>it must be written down, not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block the build. The other three get more expensive the later they are 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must be resolved before Phase 2. Everything else in commerce is insulated from it by a provider adapter.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deviations from the brief, both toward less structure at the start: admin ships inside the web app, and workspace packages have no build step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migrations, ~50 tables. This is the sentence that matters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9: each download mints a short-lived signed URL after re-checking the entitlement, and logs the mint.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after P3 is a funded extension, not a prerequisite. Mobile is the largest discretionary cost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milestone is a demonstrable capability, never a percentage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rate limiting, Zod validation at every boundary, append-only audit log, secrets in the platform store, quarterly access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environments: local, per-PR preview, staging on an anonymised copy,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 two contract additions: an explicit IP assignment clause, and no production secret existing solely on a developer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schema, RLS policies and design tokens already exist in the repository as evidence for </a:t>
            </a:r>
            <a:r>
              <a:rPr lang="en-US"/>
              <a:t>this </a:t>
            </a:r>
            <a:r>
              <a:rPr lang="en-US" smtClean="0"/>
              <a:t>design not </a:t>
            </a:r>
            <a:r>
              <a:rPr lang="en-US" dirty="0"/>
              <a:t>as a build head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USE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057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SOULFABLES  ·  PHASE 0 DELIVERABLE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4688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for the House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3794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8A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Soulfables gets built so that it launches small, scales into the full</a:t>
            </a:r>
            <a:endParaRPr lang="en-US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8A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ecosystem, and never again fails to put a book in a customer’s hands.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5349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5596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Apophia Kamwine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5349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5596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review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72200" y="5349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72200" y="5596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Base44 build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0" y="5349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69680" y="5596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Admin · Mobile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630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soulfables.co redirects to Base44. The live product is further along than the brief </a:t>
            </a:r>
            <a:r>
              <a:rPr lang="en-US" sz="150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and </a:t>
            </a: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changes what this project 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3383280" cy="16002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700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C89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051560" y="3364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live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6393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27 shelves, four authors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514600"/>
            <a:ext cx="3383280" cy="16002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6700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C89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709160" y="3364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not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36393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a $45 bundle that must fan 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2514600"/>
            <a:ext cx="3383280" cy="16002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6700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C89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366760" y="3364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nav links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36393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/wander and /residents return 404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Shelves are not categories.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8280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emotional entry points with their own copy, a curated first read, and a Librarian’s note that deliberately sends readers elsewhere. The shelf labelled “Sleepless” lives at /</a:t>
            </a:r>
            <a:r>
              <a:rPr lang="en-US" sz="130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shelf/anxiety label</a:t>
            </a: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URL and theme are already three different things.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5961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graph already exists. Each shelf states where readers arrive from and continue </a:t>
            </a:r>
            <a:r>
              <a:rPr lang="en-US" sz="130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that </a:t>
            </a: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Intelligence Platform, already designed, just not yet computed.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737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a greenfield build.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4290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C89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migration with live customers, existing content and indexed URLs —</a:t>
            </a:r>
            <a:endParaRPr lang="en-US" sz="22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C89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brief is silent on all three.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4617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is therefore scoped as work, not discovered during launch week. Existing buyers get entitlement rows so their books appear on day one; every legacy URL keeps its shape or gets a 301.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630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decisions only you can make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0637215" cy="713232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6712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214884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Soulfables take money?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2396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C4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PHASE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807208"/>
            <a:ext cx="10637215" cy="713232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00837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99008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carries over from Base44?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23960" y="3035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C4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PHASE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648456"/>
            <a:ext cx="10637215" cy="71323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8496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383133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budget ceiling?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3960" y="3877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EVERYTHING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4489704"/>
            <a:ext cx="10637215" cy="71323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6908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467258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the AI read journal entries?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23960" y="47183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5330952"/>
            <a:ext cx="10637215" cy="71323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5321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551383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Flutter, or share code with web?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23960" y="5559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630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BLOCKING DECISION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 will not work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does not support businesses registered in Rwanda. The brief names Stripe with “subject to availability” </a:t>
            </a:r>
            <a:r>
              <a:rPr lang="en-US" sz="150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but </a:t>
            </a: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legal and tax decision before it is a technical 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3337560" cy="2286000"/>
          </a:xfrm>
          <a:prstGeom prst="rect">
            <a:avLst/>
          </a:prstGeom>
          <a:solidFill>
            <a:srgbClr val="1F1F1F"/>
          </a:solidFill>
          <a:ln w="12700">
            <a:solidFill>
              <a:srgbClr val="C89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of record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30175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 · Lemon Squeezy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3272" y="3364992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become the legal </a:t>
            </a:r>
            <a:r>
              <a:rPr lang="en-US" sz="115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absorbing </a:t>
            </a: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entity problem and EU VAT on digital goods, which the brief never mentions. Higher fees, far less administration.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514600"/>
            <a:ext cx="3337560" cy="2286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payment infra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30175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Flutterwave · Paystack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45152" y="3364992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RWF and MTN Mobile </a:t>
            </a:r>
            <a:r>
              <a:rPr lang="en-US" sz="115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which </a:t>
            </a: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if a meaningful share of readers are East African.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01000" y="2514600"/>
            <a:ext cx="3337560" cy="2286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via foreign entity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57032" y="30175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LLC · UK Ltd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57032" y="3364992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Stripe, but adds company formation, accounting and cross-border tax obligations.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41324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merchant of record for global card payments, with an African PSP added later if local sales justify it. The audience for a Rwandan author writing in English is likely split between diaspora and local </a:t>
            </a:r>
            <a:r>
              <a:rPr lang="en-US" sz="135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and </a:t>
            </a:r>
            <a:r>
              <a:rPr lang="en-US" sz="13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two groups pay by different rails.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630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0637215" cy="65836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48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21305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· TypeScript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03720" y="21305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rendering. Stories must be indexable.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8620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8437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RLS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03720" y="28437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 in the database, not the app.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392424"/>
            <a:ext cx="10637215" cy="65836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575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355701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35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smtClean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three </a:t>
            </a:r>
            <a:r>
              <a:rPr lang="en-US" sz="135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03720" y="35570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media, protected audio, paid files.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42885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42702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adapter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03720" y="4270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D1. No vendor presupposed.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818888"/>
            <a:ext cx="10637215" cy="65836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001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49834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Riverpod · GoRouter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03720" y="4983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5. Dart types from the schema.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5715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56967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adapter · pgvector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03720" y="5696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stays swappable.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DATABASE SCHEMA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10424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29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to a file is never derived from an order, a session, a redirect, or anything the browser </a:t>
            </a:r>
            <a:r>
              <a:rPr lang="en-US" sz="2900" dirty="0" smtClean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said only </a:t>
            </a:r>
            <a:r>
              <a:rPr lang="en-US" sz="29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row in entitlements, written by a verified webhook.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89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whole answer to the delivery problem.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51389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5138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have many </a:t>
            </a:r>
            <a:r>
              <a:rPr lang="en-US" sz="125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EPUB</a:t>
            </a: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PDF, future formats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80760" y="51389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5138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fan out at grant time into one entitlement each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5669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5669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revoke; a partial index permits re-purchase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80760" y="5669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5669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event ids are </a:t>
            </a:r>
            <a:r>
              <a:rPr lang="en-US" sz="125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retries </a:t>
            </a: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double-grant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630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chain that already failed once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</a:t>
            </a:r>
            <a:r>
              <a:rPr lang="en-US" sz="1000" kern="0" spc="200" dirty="0" smtClean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may lie about any of this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2468880" cy="105156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67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2788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read from the database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2148840"/>
            <a:ext cx="2468880" cy="105156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2267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75888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begins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5888" y="2788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computed server-side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2148840"/>
            <a:ext cx="2468880" cy="105156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2267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73368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pays at provider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2788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details never touch us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69680" y="2148840"/>
            <a:ext cx="2468880" cy="105156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0848" y="2267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70848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returns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70848" y="2788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grants nothing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C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</a:t>
            </a:r>
            <a:r>
              <a:rPr lang="en-US" sz="1000" kern="0" spc="200" dirty="0" smtClean="0">
                <a:solidFill>
                  <a:srgbClr val="7C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kern="0" spc="200" dirty="0">
                <a:solidFill>
                  <a:srgbClr val="7C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server-side, signature-verified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3749040"/>
            <a:ext cx="2468880" cy="1051560"/>
          </a:xfrm>
          <a:prstGeom prst="rect">
            <a:avLst/>
          </a:prstGeom>
          <a:solidFill>
            <a:srgbClr val="1F1F1F"/>
          </a:solidFill>
          <a:ln w="12700">
            <a:solidFill>
              <a:srgbClr val="7C9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38679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arrives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" y="4389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verified, event logged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0" y="3749040"/>
            <a:ext cx="2468880" cy="1051560"/>
          </a:xfrm>
          <a:prstGeom prst="rect">
            <a:avLst/>
          </a:prstGeom>
          <a:solidFill>
            <a:srgbClr val="1F1F1F"/>
          </a:solidFill>
          <a:ln w="12700">
            <a:solidFill>
              <a:srgbClr val="7C9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38679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75888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marked paid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75888" y="4389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this step may set paid_at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3749040"/>
            <a:ext cx="2468880" cy="1051560"/>
          </a:xfrm>
          <a:prstGeom prst="rect">
            <a:avLst/>
          </a:prstGeom>
          <a:solidFill>
            <a:srgbClr val="1F1F1F"/>
          </a:solidFill>
          <a:ln w="12700">
            <a:solidFill>
              <a:srgbClr val="7C9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38679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73368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 granted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73368" y="4389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fan out to contents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869680" y="3749040"/>
            <a:ext cx="2468880" cy="1051560"/>
          </a:xfrm>
          <a:prstGeom prst="rect">
            <a:avLst/>
          </a:prstGeom>
          <a:solidFill>
            <a:srgbClr val="1F1F1F"/>
          </a:solidFill>
          <a:ln w="12700">
            <a:solidFill>
              <a:srgbClr val="7C9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70848" y="38679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70848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and logged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70848" y="4389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answerable from the DB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724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this prevents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" y="54315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webhook never arrives, the customer sees “we’re confirming your order” and an alert </a:t>
            </a:r>
            <a:r>
              <a:rPr lang="en-US" sz="130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not </a:t>
            </a: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 screen with no book behind it. The failure mode of every bug in this chain is a customer who has to wait, never a stranger who gets the file.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630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PHASES, RESEQUENCED ONCE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roadmap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moves ahead of </a:t>
            </a:r>
            <a:r>
              <a:rPr lang="en-US" sz="140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selling </a:t>
            </a: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reliably is the problem Soulfables has today; the library is the problem it will have at scale.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267712"/>
            <a:ext cx="10637215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386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23682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23865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0680" y="23865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CI, schema, RLS, auth, design system, content operations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798064"/>
            <a:ext cx="10637215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916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898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&amp; delivery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29169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wks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9169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webhook, entitlements, signed downloads, receipts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328416"/>
            <a:ext cx="10637215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447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429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reader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43400" y="3447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wks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34472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with 301s, shelves, journey graph, reader, search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858768"/>
            <a:ext cx="10637215" cy="4754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3977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39593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&amp; Letter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43400" y="3977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3977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journal, prompts, moods, Letter archive, Wander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" y="4389120"/>
            <a:ext cx="10637215" cy="4754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" y="4507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44897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43400" y="4507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45079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iOS and Android, offline audio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" y="4919472"/>
            <a:ext cx="10637215" cy="4754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3272" y="50383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45920" y="50200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43400" y="50383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50383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recommendations, AI companion + safety layer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7240" y="5449824"/>
            <a:ext cx="10637215" cy="4754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3272" y="55686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645920" y="5550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43400" y="55686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55686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and membership, once the concept is decided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77240" y="605332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89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Launchable scope is P1–P3: 11–14 weeks for one senior developer.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 smtClean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630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TIED TO DEMONSTRATION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92938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99032" y="19110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66160" y="1929384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approved; D1 and D2 answered; accounts created under Soulfables ownership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99032" y="23865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0" y="2404872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Soulfables publishes a story through admin with no developer involved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99032" y="28620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spike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6160" y="2880360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test purchase produces a verified webhook, an entitlement, and a working download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3558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99032" y="33375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66160" y="3355848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products purchasable; the bundle grants every contained product; refund revokes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8313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99032" y="3813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566160" y="3831336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 provably cannot reach User B’s orders, files or </a:t>
            </a:r>
            <a:r>
              <a:rPr lang="en-US" sz="120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demonstrated </a:t>
            </a: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3068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99032" y="42885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566160" y="4306824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stories migrated, every old URL 301s, reader works on phone and desktop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78231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99032" y="47640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66160" y="4782312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cut over, prior customers imported and emailed, monitoring live, rollback rehearsed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52578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99032" y="52395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66160" y="5257800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developer runs the project locally from the README alone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58521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 smtClean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630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 LIVES IN THE DATABASE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is on for every table. A table with no policy is reachable only by the service role, which never ships to a browser or a phone.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5029200" cy="196596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974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deliberate exceptions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06324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cannot read journal entries. No policy grants </a:t>
            </a:r>
            <a:r>
              <a:rPr lang="en-US" sz="115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 </a:t>
            </a: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that a reader has fourteen entries, never what any of them says.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372160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role can write entitlements. Access is granted only by the service role, only after a verified webhook.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514600"/>
            <a:ext cx="5029200" cy="196596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6974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files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306324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EPUB and PDF lives in a private bucket with no read policy for </a:t>
            </a:r>
            <a:r>
              <a:rPr lang="en-US" sz="115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including </a:t>
            </a: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who owns the book.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372160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are short-lived signed URLs minted server-side after the entitlement check, and every mint is logged.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a security concern here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120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about heartbreak, grief and healing, paired with an emotional AI companion, will meet readers in crisis. “Not a therapist” is necessary and nowhere near sufficient. The plan: a distress classifier on companion input, routing to region-appropriate crisis resources held in a table the House can correct without a deploy, no diagnostic language, and the journal consent rule enforced in the query rather than in a prompt.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 smtClean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630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Cutover from Base44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310896" cy="310896"/>
          </a:xfrm>
          <a:prstGeom prst="ellipse">
            <a:avLst/>
          </a:prstGeom>
          <a:solidFill>
            <a:srgbClr val="1F1F1F"/>
          </a:solidFill>
          <a:ln w="9525">
            <a:solidFill>
              <a:srgbClr val="C895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9397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content edits on Base44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2057400"/>
            <a:ext cx="310896" cy="310896"/>
          </a:xfrm>
          <a:prstGeom prst="ellipse">
            <a:avLst/>
          </a:prstGeom>
          <a:solidFill>
            <a:srgbClr val="1F1F1F"/>
          </a:solidFill>
          <a:ln w="9525">
            <a:solidFill>
              <a:srgbClr val="C895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09397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057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stories to MDX; import with slugs preserved exactly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715768"/>
            <a:ext cx="310896" cy="310896"/>
          </a:xfrm>
          <a:prstGeom prst="ellipse">
            <a:avLst/>
          </a:prstGeom>
          <a:solidFill>
            <a:srgbClr val="1F1F1F"/>
          </a:solidFill>
          <a:ln w="9525">
            <a:solidFill>
              <a:srgbClr val="C895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523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715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prior customers as paid orders with entitlements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715768"/>
            <a:ext cx="310896" cy="310896"/>
          </a:xfrm>
          <a:prstGeom prst="ellipse">
            <a:avLst/>
          </a:prstGeom>
          <a:solidFill>
            <a:srgbClr val="1F1F1F"/>
          </a:solidFill>
          <a:ln w="9525">
            <a:solidFill>
              <a:srgbClr val="C895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7523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715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32 stories and the full checkout chain on staging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374136"/>
            <a:ext cx="310896" cy="310896"/>
          </a:xfrm>
          <a:prstGeom prst="ellipse">
            <a:avLst/>
          </a:prstGeom>
          <a:solidFill>
            <a:srgbClr val="1F1F1F"/>
          </a:solidFill>
          <a:ln w="9525">
            <a:solidFill>
              <a:srgbClr val="C895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107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3741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301 map; test every legacy URL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3374136"/>
            <a:ext cx="310896" cy="310896"/>
          </a:xfrm>
          <a:prstGeom prst="ellipse">
            <a:avLst/>
          </a:prstGeom>
          <a:solidFill>
            <a:srgbClr val="1F1F1F"/>
          </a:solidFill>
          <a:ln w="9525">
            <a:solidFill>
              <a:srgbClr val="C895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4107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3741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DNS in the lowest-traffic window, Base44 retained as rollback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4032504"/>
            <a:ext cx="310896" cy="310896"/>
          </a:xfrm>
          <a:prstGeom prst="ellipse">
            <a:avLst/>
          </a:prstGeom>
          <a:solidFill>
            <a:srgbClr val="1F1F1F"/>
          </a:solidFill>
          <a:ln w="9525">
            <a:solidFill>
              <a:srgbClr val="C895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6908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40325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prior customers that their library is ready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4032504"/>
            <a:ext cx="310896" cy="310896"/>
          </a:xfrm>
          <a:prstGeom prst="ellipse">
            <a:avLst/>
          </a:prstGeom>
          <a:solidFill>
            <a:srgbClr val="1F1F1F"/>
          </a:solidFill>
          <a:ln w="9525">
            <a:solidFill>
              <a:srgbClr val="C895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406908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0325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error rates and webhook success for 48 hours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4937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recovery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5257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Postgres backups with seven-day point-in-time recovery, plus a weekly off-platform export so recovery never depends on a single vendor account staying accessible. Target recovery point one hour, recovery time four hours.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5852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9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Restores are rehearsed </a:t>
            </a:r>
            <a:r>
              <a:rPr lang="en-US" sz="1600" i="1" dirty="0" smtClean="0">
                <a:solidFill>
                  <a:srgbClr val="C89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an </a:t>
            </a:r>
            <a:r>
              <a:rPr lang="en-US" sz="1600" i="1" dirty="0">
                <a:solidFill>
                  <a:srgbClr val="C89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untested backup is a belief, not a backup.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 smtClean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630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HIRING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is an account, not a clause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every one of these under a Soulfables address before a developer is engaged, then invite them in. Ownership you create is ownership you hold.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450592"/>
            <a:ext cx="5029200" cy="4754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organisation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94760" y="25786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write access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450592"/>
            <a:ext cx="5029200" cy="4754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organisation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0" y="25786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role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999232"/>
            <a:ext cx="5029200" cy="4754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team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31272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999232"/>
            <a:ext cx="5029200" cy="4754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account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0" y="31272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API keys only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547872"/>
            <a:ext cx="5029200" cy="4754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registrar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94760" y="36758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required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547872"/>
            <a:ext cx="5029200" cy="4754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0" y="36758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096512"/>
            <a:ext cx="5029200" cy="4754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monitoring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94760" y="4224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4096512"/>
            <a:ext cx="5029200" cy="4754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0" y="4224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key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956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to add to the brief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52578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capability may be added that cannot be operated by Soulfables through</a:t>
            </a:r>
            <a:endParaRPr lang="en-US" sz="19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admin dashboard or a documented runbook.”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77240" y="60899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prevents developer lock-in more effectively than the ownership list, because it constrains the design rather than the paperwork.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9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651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30175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D1 and D2.</a:t>
            </a:r>
            <a:endParaRPr lang="en-US" sz="44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4400" dirty="0">
                <a:solidFill>
                  <a:srgbClr val="F4E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the build begins.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46634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Soulfables takes money, and what carries over from Base44. Everything else in this document can proceed under a stated </a:t>
            </a:r>
            <a:r>
              <a:rPr lang="en-US" sz="1500" dirty="0" smtClean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those </a:t>
            </a: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cannot.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760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C89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soul has a story. This is how it gets delivered.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1945</Words>
  <Application>Microsoft Office PowerPoint</Application>
  <PresentationFormat>Widescreen</PresentationFormat>
  <Paragraphs>284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Soulfables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Soulfables Architecture</dc:title>
  <dc:subject>PptxGenJS Presentation</dc:subject>
  <dc:creator>Soulfables</dc:creator>
  <cp:lastModifiedBy>lio</cp:lastModifiedBy>
  <cp:revision>2</cp:revision>
  <dcterms:created xsi:type="dcterms:W3CDTF">2026-08-20T13:08:48Z</dcterms:created>
  <dcterms:modified xsi:type="dcterms:W3CDTF">2026-08-20T13:17:16Z</dcterms:modified>
</cp:coreProperties>
</file>